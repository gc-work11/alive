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858000"/>
          </a:xfrm>
          <a:prstGeom prst="rect">
            <a:avLst/>
          </a:prstGeom>
          <a:solidFill>
            <a:srgbClr val="15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320" y="0"/>
            <a:ext cx="12700" cy="68580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200">
                <a:solidFill>
                  <a:srgbClr val="EDEBE4"/>
                </a:solidFill>
                <a:latin typeface="Segoe UI"/>
              </a:rPr>
              <a:t>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9788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App coming</a:t>
            </a:r>
            <a:r>
              <a:rPr sz="1050" b="1">
                <a:solidFill>
                  <a:srgbClr val="9AA0A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soon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400800"/>
            <a:ext cx="1188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Open Source</a:t>
            </a:r>
            <a:r>
              <a:rPr sz="850" b="0">
                <a:solidFill>
                  <a:srgbClr val="5C6470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8FB8D9"/>
                </a:solidFill>
                <a:latin typeface="Segoe UI"/>
              </a:rPr>
              <a:t>01 ·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6012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One question in —</a:t>
            </a:r>
          </a:p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“what did this air do to me?”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AA0AA"/>
                </a:solidFill>
                <a:latin typeface="Segoe UI"/>
              </a:rPr>
              <a:t>Everything ALive shows is </a:t>
            </a:r>
            <a:r>
              <a:rPr sz="1450" b="1">
                <a:solidFill>
                  <a:srgbClr val="EDEBE4"/>
                </a:solidFill>
                <a:latin typeface="Segoe UI"/>
              </a:rPr>
              <a:t>computed per-request</a:t>
            </a:r>
            <a:r>
              <a:rPr sz="1450" b="0">
                <a:solidFill>
                  <a:srgbClr val="9AA0AA"/>
                </a:solidFill>
                <a:latin typeface="Segoe UI"/>
              </a:rPr>
              <a:t> from live feeds — no cached screenshots, no made-up numbers. A thin web app in front, a real engine on AWS behind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4290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8256" y="361188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200">
                <a:solidFill>
                  <a:srgbClr val="5C6470"/>
                </a:solidFill>
                <a:latin typeface="Segoe UI"/>
              </a:rPr>
              <a:t>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3867912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Phone 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8256" y="4178808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AA"/>
                </a:solidFill>
                <a:latin typeface="Segoe UI"/>
              </a:rPr>
              <a:t>GPS, the map, your trip — location never leaves the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93192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5C6470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290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361188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200">
                <a:solidFill>
                  <a:srgbClr val="5C6470"/>
                </a:solidFill>
                <a:latin typeface="Segoe UI"/>
              </a:rPr>
              <a:t>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867912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Vercel → CloudFront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4178808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AA"/>
                </a:solidFill>
                <a:latin typeface="Segoe UI"/>
              </a:rPr>
              <a:t>Static shell + every API call proxied to the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4072" y="3931920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5C6470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42900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3611880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200">
                <a:solidFill>
                  <a:srgbClr val="5C6470"/>
                </a:solidFill>
                <a:latin typeface="Segoe UI"/>
              </a:rPr>
              <a:t>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867912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FastAPI on AWS 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178808"/>
            <a:ext cx="21305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AA"/>
                </a:solidFill>
                <a:latin typeface="Segoe UI"/>
              </a:rPr>
              <a:t>C++ routing core, air-field builder, exposure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257800"/>
            <a:ext cx="2542032" cy="365760"/>
          </a:xfrm>
          <a:prstGeom prst="roundRect">
            <a:avLst>
              <a:gd name="adj" fmla="val 50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75104" y="5340096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7FBF9A"/>
                </a:solidFill>
                <a:latin typeface="Segoe UI"/>
              </a:rPr>
              <a:t>53</a:t>
            </a:r>
            <a:r>
              <a:rPr sz="1150" b="0">
                <a:solidFill>
                  <a:srgbClr val="9AA0AA"/>
                </a:solidFill>
                <a:latin typeface="Segoe UI"/>
              </a:rPr>
              <a:t> live stations · WAQI + DPCC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98848" y="5257800"/>
            <a:ext cx="2317089" cy="365760"/>
          </a:xfrm>
          <a:prstGeom prst="roundRect">
            <a:avLst>
              <a:gd name="adj" fmla="val 50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5340096"/>
            <a:ext cx="23170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CAMS satellite · Open-Meteo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3953" y="5257800"/>
            <a:ext cx="1867204" cy="365760"/>
          </a:xfrm>
          <a:prstGeom prst="roundRect">
            <a:avLst>
              <a:gd name="adj" fmla="val 50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0257" y="5340096"/>
            <a:ext cx="18672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VIIRS fire detections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9173" y="5257800"/>
            <a:ext cx="1717243" cy="365760"/>
          </a:xfrm>
          <a:prstGeom prst="roundRect">
            <a:avLst>
              <a:gd name="adj" fmla="val 50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5477" y="5340096"/>
            <a:ext cx="17172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OpenStreetMap roads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84432" y="5257800"/>
            <a:ext cx="1717243" cy="365760"/>
          </a:xfrm>
          <a:prstGeom prst="roundRect">
            <a:avLst>
              <a:gd name="adj" fmla="val 50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30736" y="5340096"/>
            <a:ext cx="17172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TomTom live traffic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470"/>
                </a:solidFill>
                <a:latin typeface="Segoe UI"/>
              </a:rPr>
              <a:t>ALive · technical deck · Delhi/NCR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858000"/>
          </a:xfrm>
          <a:prstGeom prst="rect">
            <a:avLst/>
          </a:prstGeom>
          <a:solidFill>
            <a:srgbClr val="15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320" y="0"/>
            <a:ext cx="12700" cy="68580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200">
                <a:solidFill>
                  <a:srgbClr val="EDEBE4"/>
                </a:solidFill>
                <a:latin typeface="Segoe UI"/>
              </a:rPr>
              <a:t>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9788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App coming</a:t>
            </a:r>
            <a:r>
              <a:rPr sz="1050" b="1">
                <a:solidFill>
                  <a:srgbClr val="9AA0A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soon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400800"/>
            <a:ext cx="1188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Open Source</a:t>
            </a:r>
            <a:r>
              <a:rPr sz="850" b="0">
                <a:solidFill>
                  <a:srgbClr val="5C6470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8FB8D9"/>
                </a:solidFill>
                <a:latin typeface="Segoe UI"/>
              </a:rPr>
              <a:t>02 · HOW A NUMBER IS BORN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6012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From a station's readout</a:t>
            </a:r>
          </a:p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to the air at your feet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AA0AA"/>
                </a:solidFill>
                <a:latin typeface="Segoe UI"/>
              </a:rPr>
              <a:t>Station readings + the satellite field are </a:t>
            </a:r>
            <a:r>
              <a:rPr sz="1450" b="1">
                <a:solidFill>
                  <a:srgbClr val="EDEBE4"/>
                </a:solidFill>
                <a:latin typeface="Segoe UI"/>
              </a:rPr>
              <a:t>interpolated onto ~14,000 hex cells</a:t>
            </a:r>
            <a:r>
              <a:rPr sz="1450" b="0">
                <a:solidFill>
                  <a:srgbClr val="9AA0AA"/>
                </a:solidFill>
                <a:latin typeface="Segoe UI"/>
              </a:rPr>
              <a:t> across Delhi/NCR — then run through India's official CPCB breakpoints, the same table every monitor uses.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383280"/>
            <a:ext cx="8869680" cy="1371600"/>
          </a:xfrm>
          <a:prstGeom prst="roundRect">
            <a:avLst>
              <a:gd name="adj" fmla="val 8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61188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BE4"/>
                </a:solidFill>
                <a:latin typeface="Segoe UI"/>
              </a:rPr>
              <a:t>PM2.5 + PM10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39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stations &amp; satellite,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blended per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9476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C6470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11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BE4"/>
                </a:solidFill>
                <a:latin typeface="Segoe UI"/>
              </a:rPr>
              <a:t>14,155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77639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hex cells, rebuilt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every ~15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9476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C6470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6118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DEBE4"/>
                </a:solidFill>
                <a:latin typeface="Segoe UI"/>
              </a:rPr>
              <a:t>CPCB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977639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India's official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AQI breakpoints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7947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5C6470"/>
                </a:solidFill>
                <a:latin typeface="Segoe UI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611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D9A86C"/>
                </a:solidFill>
                <a:latin typeface="Segoe UI"/>
              </a:rPr>
              <a:t>AQI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977639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your street — not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470"/>
                </a:solidFill>
                <a:latin typeface="Segoe UI"/>
              </a:rPr>
              <a:t>the nearest station's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074920"/>
            <a:ext cx="4297680" cy="123444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84832" y="53126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4832" y="5532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Freshness is stated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2" y="587959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Every read says its age — “updated 3 min ago”. Stale is called stale.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5074920"/>
            <a:ext cx="4343400" cy="123444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1112" y="53126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D9A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55321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Fallbacks are honest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5879592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Stations down? The app says “satellite estimate” instead of pretending.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470"/>
                </a:solidFill>
                <a:latin typeface="Segoe UI"/>
              </a:rPr>
              <a:t>ALive · technical deck · Delhi/NCR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858000"/>
          </a:xfrm>
          <a:prstGeom prst="rect">
            <a:avLst/>
          </a:prstGeom>
          <a:solidFill>
            <a:srgbClr val="15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320" y="0"/>
            <a:ext cx="12700" cy="68580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200">
                <a:solidFill>
                  <a:srgbClr val="EDEBE4"/>
                </a:solidFill>
                <a:latin typeface="Segoe UI"/>
              </a:rPr>
              <a:t>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9788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App coming</a:t>
            </a:r>
            <a:r>
              <a:rPr sz="1050" b="1">
                <a:solidFill>
                  <a:srgbClr val="9AA0A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soon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400800"/>
            <a:ext cx="1188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Open Source</a:t>
            </a:r>
            <a:r>
              <a:rPr sz="850" b="0">
                <a:solidFill>
                  <a:srgbClr val="5C6470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8FB8D9"/>
                </a:solidFill>
                <a:latin typeface="Segoe UI"/>
              </a:rPr>
              <a:t>03 · THE PUREST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6012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Routes priced in breath,</a:t>
            </a:r>
          </a:p>
          <a:p>
            <a:pPr algn="l">
              <a:lnSpc>
                <a:spcPct val="102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not just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172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9AA0AA"/>
                </a:solidFill>
                <a:latin typeface="Segoe UI"/>
              </a:rPr>
              <a:t>Every road segment gets the field's PM2.5 painted onto it. Each candidate route integrates exposure along its length — </a:t>
            </a:r>
            <a:r>
              <a:rPr sz="1450" b="1">
                <a:solidFill>
                  <a:srgbClr val="EDEBE4"/>
                </a:solidFill>
                <a:latin typeface="Segoe UI"/>
              </a:rPr>
              <a:t>dose = ∫ PM2.5 × ventilation × time</a:t>
            </a:r>
            <a:r>
              <a:rPr sz="1450" b="0">
                <a:solidFill>
                  <a:srgbClr val="9AA0AA"/>
                </a:solidFill>
                <a:latin typeface="Segoe UI"/>
              </a:rPr>
              <a:t> — so “best” means least inhaled, under your constraint.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387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9AA0AA"/>
                </a:solidFill>
                <a:latin typeface="Segoe UI"/>
              </a:rPr>
              <a:t>fastest road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557016"/>
            <a:ext cx="5120640" cy="237744"/>
          </a:xfrm>
          <a:prstGeom prst="roundRect">
            <a:avLst>
              <a:gd name="adj" fmla="val 50000"/>
            </a:avLst>
          </a:prstGeom>
          <a:solidFill>
            <a:srgbClr val="C05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AA"/>
                </a:solidFill>
                <a:latin typeface="Segoe UI"/>
              </a:rPr>
              <a:t>22 min · heavier 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1421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9AA0AA"/>
                </a:solidFill>
                <a:latin typeface="Segoe UI"/>
              </a:rPr>
              <a:t>ALive picks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032504"/>
            <a:ext cx="3840480" cy="237744"/>
          </a:xfrm>
          <a:prstGeom prst="roundRect">
            <a:avLst>
              <a:gd name="adj" fmla="val 50000"/>
            </a:avLst>
          </a:prstGeom>
          <a:solidFill>
            <a:srgbClr val="7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0142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AA"/>
                </a:solidFill>
                <a:latin typeface="Segoe UI"/>
              </a:rPr>
              <a:t>25 min · ≈40% less inhaled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970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9AA0AA"/>
                </a:solidFill>
                <a:latin typeface="Segoe UI"/>
              </a:rPr>
              <a:t>a run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4507992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4897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0AA"/>
                </a:solidFill>
                <a:latin typeface="Segoe UI"/>
              </a:rPr>
              <a:t>on foot · dose-ranked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257800"/>
            <a:ext cx="4297680" cy="118872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84832" y="54955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2" y="571500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Breathing counts too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6062472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A runner breathes ~3× a walker — the model knows the difference.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257800"/>
            <a:ext cx="4343400" cy="118872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11112" y="54955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571500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Receipts are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6062472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The trip's dose comes from your GPS track × live air — measured, not assumed.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470"/>
                </a:solidFill>
                <a:latin typeface="Segoe UI"/>
              </a:rPr>
              <a:t>ALive · technical deck · Delhi/NCR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17320" cy="6858000"/>
          </a:xfrm>
          <a:prstGeom prst="rect">
            <a:avLst/>
          </a:prstGeom>
          <a:solidFill>
            <a:srgbClr val="151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320" y="0"/>
            <a:ext cx="12700" cy="68580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200">
                <a:solidFill>
                  <a:srgbClr val="EDEBE4"/>
                </a:solidFill>
                <a:latin typeface="Segoe UI"/>
              </a:rPr>
              <a:t>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9788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App coming</a:t>
            </a:r>
            <a:r>
              <a:rPr sz="1050" b="1">
                <a:solidFill>
                  <a:srgbClr val="9AA0AA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9AA0AA"/>
                </a:solidFill>
                <a:latin typeface="Segoe UI"/>
              </a:rPr>
              <a:t>soon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400800"/>
            <a:ext cx="1188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Open Source</a:t>
            </a:r>
            <a:r>
              <a:rPr sz="850" b="0">
                <a:solidFill>
                  <a:srgbClr val="5C6470"/>
                </a:solidFill>
                <a:latin typeface="Segoe U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470"/>
                </a:solidFill>
                <a:latin typeface="Segoe UI"/>
              </a:rPr>
              <a:t>Initiative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8961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8FB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300">
                <a:solidFill>
                  <a:srgbClr val="8FB8D9"/>
                </a:solidFill>
                <a:latin typeface="Segoe UI"/>
              </a:rPr>
              <a:t>04 · THE HARD 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6012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DEBE4"/>
                </a:solidFill>
                <a:latin typeface="Segoe UI"/>
              </a:rPr>
              <a:t>What made Delhi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69164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9AA0AA"/>
                </a:solidFill>
                <a:latin typeface="Segoe UI"/>
              </a:rPr>
              <a:t>Three problems decided whether this was a toy or a product.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2377440"/>
            <a:ext cx="2788920" cy="228600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84832" y="26151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D9A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834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A grid is not a street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318211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Satellite cells are ~1 km². We interpolate stations + model onto street-level hexes so the map reads per-road, not per-district.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3752" y="2377440"/>
            <a:ext cx="2788920" cy="228600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9784" y="26151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C05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2834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Feeds die mid-demo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318211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Station APIs drop keys and go dark. The app degrades honestly — satellite mode, labelled — instead of freezing or faking.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2377440"/>
            <a:ext cx="2788920" cy="2286000"/>
          </a:xfrm>
          <a:prstGeom prst="roundRect">
            <a:avLst>
              <a:gd name="adj" fmla="val 7000"/>
            </a:avLst>
          </a:prstGeom>
          <a:solidFill>
            <a:srgbClr val="15181E"/>
          </a:solidFill>
          <a:ln w="9525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74736" y="26151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FB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6" y="28346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EDEBE4"/>
                </a:solidFill>
                <a:latin typeface="Segoe UI"/>
              </a:rPr>
              <a:t>Privacy vs.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318211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AA0AA"/>
                </a:solidFill>
                <a:latin typeface="Segoe UI"/>
              </a:rPr>
              <a:t>Dose needs your track; tracking people is creepy. So the GPS trail stays on the phone — only anonymous counters leave.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12064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AA"/>
                </a:solidFill>
                <a:latin typeface="Segoe UI"/>
              </a:rPr>
              <a:t>Built on open data — OSM, OpenFreeMap, Open-Meteo/CAMS, CPCB/WAQI/DPCC, TomTom — and a C++ engine that answers in milliseconds, not seconds.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470"/>
                </a:solidFill>
                <a:latin typeface="Segoe UI"/>
              </a:rPr>
              <a:t>ALive · technical deck · Delhi/NCR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