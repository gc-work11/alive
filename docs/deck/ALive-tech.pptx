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9144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pic>
        <p:nvPicPr>
          <p:cNvPr id="14" name="Picture 13" descr="hex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01 / 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01 · OPEN 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open source —</a:t>
            </a:r>
          </a:p>
          <a:p>
            <a:pPr algn="l">
              <a:lnSpc>
                <a:spcPct val="100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so let's open it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286000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the technical juice and the numbers, honestly.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3127248"/>
            <a:ext cx="2286000" cy="210312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29968" y="3291840"/>
            <a:ext cx="1883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ROAD EDGES PRICED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9968" y="3584448"/>
            <a:ext cx="18836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FB8D9"/>
                </a:solidFill>
                <a:latin typeface="Segoe UI"/>
              </a:rPr>
              <a:t>1,070,459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8" y="4206240"/>
            <a:ext cx="192024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0AA"/>
                </a:solidFill>
                <a:latin typeface="Segoe UI"/>
              </a:rPr>
              <a:t>every Delhi street carries a live air reading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127248"/>
            <a:ext cx="2286000" cy="210312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291840"/>
            <a:ext cx="1883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FIELD CELLS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3584448"/>
            <a:ext cx="18836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FBF9A"/>
                </a:solidFill>
                <a:latin typeface="Segoe UI"/>
              </a:rPr>
              <a:t>14,155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4206240"/>
            <a:ext cx="192024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0AA"/>
                </a:solidFill>
                <a:latin typeface="Segoe UI"/>
              </a:rPr>
              <a:t>the city's air, rebuilt as a fine grid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9984" y="3127248"/>
            <a:ext cx="2286000" cy="210312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3291840"/>
            <a:ext cx="1883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LIVE MONITORS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3584448"/>
            <a:ext cx="18836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D9A86C"/>
                </a:solidFill>
                <a:latin typeface="Segoe UI"/>
              </a:rPr>
              <a:t>53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1152" y="4206240"/>
            <a:ext cx="192024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0AA"/>
                </a:solidFill>
                <a:latin typeface="Segoe UI"/>
              </a:rPr>
              <a:t>government stations feeding in right now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0576" y="3127248"/>
            <a:ext cx="2286000" cy="210312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81744" y="3291840"/>
            <a:ext cx="1883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TO AN ANSWER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81744" y="3584448"/>
            <a:ext cx="18836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05F3A"/>
                </a:solidFill>
                <a:latin typeface="Segoe UI"/>
              </a:rPr>
              <a:t>~2.5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81744" y="4206240"/>
            <a:ext cx="192024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0AA"/>
                </a:solidFill>
                <a:latin typeface="Segoe UI"/>
              </a:rPr>
              <a:t>ask a question, get a real place 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62356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DEBE4"/>
                </a:solidFill>
                <a:latin typeface="Segoe UI"/>
              </a:rPr>
              <a:t>every number on this deck is real</a:t>
            </a:r>
            <a:r>
              <a:rPr sz="1300" b="0">
                <a:solidFill>
                  <a:srgbClr val="9AA0AA"/>
                </a:solidFill>
                <a:latin typeface="Segoe UI"/>
              </a:rPr>
              <a:t>  —  measured, not marketing.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9144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pic>
        <p:nvPicPr>
          <p:cNvPr id="14" name="Picture 13" descr="hex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02 / 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02 · 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six features,</a:t>
            </a:r>
          </a:p>
          <a:p>
            <a:pPr algn="l">
              <a:lnSpc>
                <a:spcPct val="100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plain english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331720"/>
            <a:ext cx="5760720" cy="384048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48256" y="2514600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WHAT A PERSON CAN 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66543" y="29718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0" y="2889504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DEBE4"/>
                </a:solidFill>
                <a:latin typeface="Segoe UI"/>
              </a:rPr>
              <a:t>ask it where to go</a:t>
            </a:r>
            <a:r>
              <a:rPr sz="1150" b="0">
                <a:solidFill>
                  <a:srgbClr val="9AA0AA"/>
                </a:solidFill>
                <a:latin typeface="Segoe UI"/>
              </a:rPr>
              <a:t>  —  it answers with a real place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66543" y="35067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7FB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6000" y="3424428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DEBE4"/>
                </a:solidFill>
                <a:latin typeface="Segoe UI"/>
              </a:rPr>
              <a:t>air around me</a:t>
            </a:r>
            <a:r>
              <a:rPr sz="1150" b="0">
                <a:solidFill>
                  <a:srgbClr val="9AA0AA"/>
                </a:solidFill>
                <a:latin typeface="Segoe UI"/>
              </a:rPr>
              <a:t>  —  the air at any point, and the day ahead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6543" y="40416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D9A8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0" y="395935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DEBE4"/>
                </a:solidFill>
                <a:latin typeface="Segoe UI"/>
              </a:rPr>
              <a:t>run mode</a:t>
            </a:r>
            <a:r>
              <a:rPr sz="1150" b="0">
                <a:solidFill>
                  <a:srgbClr val="9AA0AA"/>
                </a:solidFill>
                <a:latin typeface="Segoe UI"/>
              </a:rPr>
              <a:t>  —  the cleanest way, priced in what you breathe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66543" y="45765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4494276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DEBE4"/>
                </a:solidFill>
                <a:latin typeface="Segoe UI"/>
              </a:rPr>
              <a:t>purest places</a:t>
            </a:r>
            <a:r>
              <a:rPr sz="1150" b="0">
                <a:solidFill>
                  <a:srgbClr val="9AA0AA"/>
                </a:solidFill>
                <a:latin typeface="Segoe UI"/>
              </a:rPr>
              <a:t>  —  the cleanest named spots right now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66543" y="51114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7FB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86000" y="5029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DEBE4"/>
                </a:solidFill>
                <a:latin typeface="Segoe UI"/>
              </a:rPr>
              <a:t>trips</a:t>
            </a:r>
            <a:r>
              <a:rPr sz="1150" b="0">
                <a:solidFill>
                  <a:srgbClr val="9AA0AA"/>
                </a:solidFill>
                <a:latin typeface="Segoe UI"/>
              </a:rPr>
              <a:t>  —  what the air did to you, day by day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66543" y="56464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D9A8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6000" y="5564124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DEBE4"/>
                </a:solidFill>
                <a:latin typeface="Segoe UI"/>
              </a:rPr>
              <a:t>search</a:t>
            </a:r>
            <a:r>
              <a:rPr sz="1150" b="0">
                <a:solidFill>
                  <a:srgbClr val="9AA0AA"/>
                </a:solidFill>
                <a:latin typeface="Segoe UI"/>
              </a:rPr>
              <a:t>  —  any Delhi place, fast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2331720"/>
            <a:ext cx="3429000" cy="384048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7575" y="2514600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THE OPERATOR 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7575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DEBE4"/>
                </a:solidFill>
                <a:latin typeface="Segoe UI"/>
              </a:rPr>
              <a:t>counts, not people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37575" y="3182112"/>
            <a:ext cx="2990088" cy="2331720"/>
          </a:xfrm>
          <a:prstGeom prst="roundRect">
            <a:avLst>
              <a:gd name="adj" fmla="val 5000"/>
            </a:avLst>
          </a:prstGeom>
          <a:solidFill>
            <a:srgbClr val="0B0D10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2168" y="3310128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200">
                <a:solidFill>
                  <a:srgbClr val="5C6470"/>
                </a:solidFill>
                <a:latin typeface="Segoe UI"/>
              </a:rPr>
              <a:t>ADMIN · ANONYMIZED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2168" y="3602736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0AA"/>
                </a:solidFill>
                <a:latin typeface="Segoe UI"/>
              </a:rPr>
              <a:t>trips counted, this week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3575304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8FB8D9"/>
                </a:solidFill>
                <a:latin typeface="Segoe UI"/>
              </a:rPr>
              <a:t>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02168" y="3909060"/>
            <a:ext cx="2660904" cy="7315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2168" y="4059935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0AA"/>
                </a:solidFill>
                <a:latin typeface="Segoe UI"/>
              </a:rPr>
              <a:t>corridors live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4032503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7FBF9A"/>
                </a:solidFill>
                <a:latin typeface="Segoe UI"/>
              </a:rPr>
              <a:t>12 of 54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2168" y="4366259"/>
            <a:ext cx="2660904" cy="7315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02168" y="4517136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0AA"/>
                </a:solidFill>
                <a:latin typeface="Segoe UI"/>
              </a:rPr>
              <a:t>doses avoided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4489703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D9A86C"/>
                </a:solidFill>
                <a:latin typeface="Segoe UI"/>
              </a:rPr>
              <a:t>725.9 µg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02168" y="4823459"/>
            <a:ext cx="2660904" cy="7315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02168" y="4974336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0AA"/>
                </a:solidFill>
                <a:latin typeface="Segoe UI"/>
              </a:rPr>
              <a:t>contributors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4946903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8FB8D9"/>
                </a:solidFill>
                <a:latin typeface="Segoe UI"/>
              </a:rP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02168" y="5303520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C6470"/>
                </a:solidFill>
                <a:latin typeface="Segoe UI"/>
              </a:rPr>
              <a:t>no names · no tracks · only totals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9144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pic>
        <p:nvPicPr>
          <p:cNvPr id="14" name="Picture 13" descr="hex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03 / 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03 · HOW THE NUMBERS ARE MADE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from sensors</a:t>
            </a:r>
          </a:p>
          <a:p>
            <a:pPr algn="l">
              <a:lnSpc>
                <a:spcPct val="100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to your screen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06040"/>
            <a:ext cx="2212848" cy="210312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29968" y="2770632"/>
            <a:ext cx="18105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1 · 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9968" y="3063240"/>
            <a:ext cx="1810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FB8D9"/>
                </a:solidFill>
                <a:latin typeface="Segoe UI"/>
              </a:rPr>
              <a:t>sensors &amp; satellites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9968" y="3721608"/>
            <a:ext cx="1847088" cy="877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government monitors and satellite models report 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3652" y="344728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5C6470"/>
                </a:solidFill>
                <a:latin typeface="Segoe U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3983" y="2606040"/>
            <a:ext cx="2212848" cy="210312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1" y="2770632"/>
            <a:ext cx="18105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2 · BLEND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1" y="3063240"/>
            <a:ext cx="1810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7FBF9A"/>
                </a:solidFill>
                <a:latin typeface="Segoe UI"/>
              </a:rPr>
              <a:t>onto a city grid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5151" y="3721608"/>
            <a:ext cx="1847088" cy="877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every reading merges into 14,155 small cells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88836" y="344728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5C6470"/>
                </a:solidFill>
                <a:latin typeface="Segoe U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59168" y="2606040"/>
            <a:ext cx="2212848" cy="210312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0336" y="2770632"/>
            <a:ext cx="18105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3 · BAND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0336" y="3063240"/>
            <a:ext cx="1810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D9A86C"/>
                </a:solidFill>
                <a:latin typeface="Segoe UI"/>
              </a:rPr>
              <a:t>official CPCB bands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0336" y="3721608"/>
            <a:ext cx="1847088" cy="877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each cell gets the colour people already know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04020" y="344728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5C6470"/>
                </a:solidFill>
                <a:latin typeface="Segoe U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74352" y="2606040"/>
            <a:ext cx="2212848" cy="210312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2770632"/>
            <a:ext cx="18105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4 · SERVE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3063240"/>
            <a:ext cx="1810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C05F3A"/>
                </a:solidFill>
                <a:latin typeface="Segoe UI"/>
              </a:rPr>
              <a:t>your phone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721608"/>
            <a:ext cx="1847088" cy="877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the engine answers with a place, in ~2.5 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28800" y="4983480"/>
            <a:ext cx="5989320" cy="100584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48256" y="5148072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THE STACK — BORING ON PURPOSE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48256" y="54406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FB8D9"/>
                </a:solidFill>
                <a:latin typeface="Segoe UI"/>
              </a:rPr>
              <a:t>python fastapi</a:t>
            </a:r>
            <a:r>
              <a:rPr sz="1300" b="0">
                <a:solidFill>
                  <a:srgbClr val="5C6470"/>
                </a:solidFill>
                <a:latin typeface="Segoe UI"/>
              </a:rPr>
              <a:t>  ·  </a:t>
            </a:r>
            <a:r>
              <a:rPr sz="1300" b="1">
                <a:solidFill>
                  <a:srgbClr val="7FBF9A"/>
                </a:solidFill>
                <a:latin typeface="Segoe UI"/>
              </a:rPr>
              <a:t>c++17 engine</a:t>
            </a:r>
            <a:r>
              <a:rPr sz="1300" b="0">
                <a:solidFill>
                  <a:srgbClr val="5C6470"/>
                </a:solidFill>
                <a:latin typeface="Segoe UI"/>
              </a:rPr>
              <a:t>  ·  </a:t>
            </a:r>
            <a:r>
              <a:rPr sz="1300" b="1">
                <a:solidFill>
                  <a:srgbClr val="D9A86C"/>
                </a:solidFill>
                <a:latin typeface="Segoe UI"/>
              </a:rPr>
              <a:t>maplibre</a:t>
            </a:r>
            <a:r>
              <a:rPr sz="1300" b="0">
                <a:solidFill>
                  <a:srgbClr val="5C6470"/>
                </a:solidFill>
                <a:latin typeface="Segoe UI"/>
              </a:rPr>
              <a:t>  ·  </a:t>
            </a:r>
            <a:r>
              <a:rPr sz="1300" b="1">
                <a:solidFill>
                  <a:srgbClr val="C05F3A"/>
                </a:solidFill>
                <a:latin typeface="Segoe UI"/>
              </a:rPr>
              <a:t>openstreetmap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4983480"/>
            <a:ext cx="3200400" cy="100584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6175" y="5148072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WHEN DATA IS THIN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5" y="544068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we say so — every cell carries a confidence flag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9144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pic>
        <p:nvPicPr>
          <p:cNvPr id="14" name="Picture 13" descr="hex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04 / 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04 · WHERE THE DATA COMES FROM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real feeds,</a:t>
            </a:r>
          </a:p>
          <a:p>
            <a:pPr algn="l">
              <a:lnSpc>
                <a:spcPct val="100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no guesses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212848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AA0AA"/>
                </a:solidFill>
                <a:latin typeface="Segoe UI"/>
              </a:rPr>
              <a:t>nothing on the map is invented — every number traces to a feed.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2798064"/>
            <a:ext cx="5120640" cy="658368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48256" y="294436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67712" y="288950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DEBE4"/>
                </a:solidFill>
                <a:latin typeface="Segoe UI"/>
              </a:rPr>
              <a:t>53 government monitors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67712" y="3163824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0AA"/>
                </a:solidFill>
                <a:latin typeface="Segoe UI"/>
              </a:rPr>
              <a:t>WAQI + DPCC stations across Delhi, refreshed every few minutes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3557016"/>
            <a:ext cx="5120640" cy="658368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48256" y="37033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7FB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67712" y="364845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DEBE4"/>
                </a:solidFill>
                <a:latin typeface="Segoe UI"/>
              </a:rPr>
              <a:t>a satellite model — CAMS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7712" y="392277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0AA"/>
                </a:solidFill>
                <a:latin typeface="Segoe UI"/>
              </a:rPr>
              <a:t>fills the gaps between stations, hour by hour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800" y="4315968"/>
            <a:ext cx="5120640" cy="658368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048256" y="446227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D9A8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7712" y="440740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DEBE4"/>
                </a:solidFill>
                <a:latin typeface="Segoe UI"/>
              </a:rPr>
              <a:t>fire satellites — VIIRS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67712" y="468172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0AA"/>
                </a:solidFill>
                <a:latin typeface="Segoe UI"/>
              </a:rPr>
              <a:t>catches stubble smoke drifting in from the belt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5074920"/>
            <a:ext cx="5120640" cy="658368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48256" y="522122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67712" y="5166359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DEBE4"/>
                </a:solidFill>
                <a:latin typeface="Segoe UI"/>
              </a:rPr>
              <a:t>OpenStreetMap roads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67712" y="544068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0AA"/>
                </a:solidFill>
                <a:latin typeface="Segoe UI"/>
              </a:rPr>
              <a:t>1,070,459 streets the air is priced 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28800" y="5833872"/>
            <a:ext cx="5120640" cy="658368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048256" y="59801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7FB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67712" y="592531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DEBE4"/>
                </a:solidFill>
                <a:latin typeface="Segoe UI"/>
              </a:rPr>
              <a:t>TomTom traffic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67712" y="6199632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0AA"/>
                </a:solidFill>
                <a:latin typeface="Segoe UI"/>
              </a:rPr>
              <a:t>jams change where the air pools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23760" y="2212848"/>
            <a:ext cx="4526280" cy="3950208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field_r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340864"/>
            <a:ext cx="3429000" cy="267919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406640" y="513892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DEBE4"/>
                </a:solidFill>
                <a:latin typeface="Segoe UI"/>
              </a:rPr>
              <a:t>today's real air over Delhi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541324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0AA"/>
                </a:solidFill>
                <a:latin typeface="Segoe UI"/>
              </a:rPr>
              <a:t>rebuilt every ~15 minutes, unattended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742432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A86C"/>
                </a:solidFill>
                <a:latin typeface="Segoe UI"/>
              </a:rPr>
              <a:t>every cell carries a confidence flag</a:t>
            </a:r>
            <a:r>
              <a:rPr sz="1000" b="0">
                <a:solidFill>
                  <a:srgbClr val="9AA0AA"/>
                </a:solidFill>
                <a:latin typeface="Segoe UI"/>
              </a:rPr>
              <a:t> — thin data says 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9144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pic>
        <p:nvPicPr>
          <p:cNvPr id="14" name="Picture 13" descr="hex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05 / 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05 · RUNNING ON AWS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runs on AWS ap-south-1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1691640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Mumbai — close to Delhi, so answers stay quick.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2423160"/>
            <a:ext cx="2880360" cy="169164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48256" y="2569464"/>
            <a:ext cx="2441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ECR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48256" y="2843784"/>
            <a:ext cx="2441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FB8D9"/>
                </a:solidFill>
                <a:latin typeface="Segoe UI"/>
              </a:rPr>
              <a:t>the image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8256" y="3209544"/>
            <a:ext cx="24597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every deploy is one packaged image — same thing runs every time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4920" y="2423160"/>
            <a:ext cx="2880360" cy="169164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94376" y="2569464"/>
            <a:ext cx="2441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ECS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2843784"/>
            <a:ext cx="2441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7FBF9A"/>
                </a:solidFill>
                <a:latin typeface="Segoe UI"/>
              </a:rPr>
              <a:t>the always-on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94376" y="3209544"/>
            <a:ext cx="24597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the engine lives here, running day and night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0" y="2423160"/>
            <a:ext cx="2880360" cy="169164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0496" y="2569464"/>
            <a:ext cx="2441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SECRETS MANAGER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2843784"/>
            <a:ext cx="2441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D9A86C"/>
                </a:solidFill>
                <a:latin typeface="Segoe UI"/>
              </a:rPr>
              <a:t>keys in a vault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209544"/>
            <a:ext cx="24597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station keys &amp; tokens — never in code, never in the repo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47288" y="4343400"/>
            <a:ext cx="2880360" cy="169164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66744" y="4489704"/>
            <a:ext cx="2441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NLB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66744" y="4764024"/>
            <a:ext cx="2441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FB8D9"/>
                </a:solidFill>
                <a:latin typeface="Segoe UI"/>
              </a:rPr>
              <a:t>the front door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5129784"/>
            <a:ext cx="24597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one steady address takes the traffic 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93408" y="4343400"/>
            <a:ext cx="2880360" cy="169164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4489704"/>
            <a:ext cx="2441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CLOUDFRONT + VERCEL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4764024"/>
            <a:ext cx="2441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7FBF9A"/>
                </a:solidFill>
                <a:latin typeface="Segoe UI"/>
              </a:rPr>
              <a:t>the edge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5129784"/>
            <a:ext cx="24597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the app and answers load fast, close to you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626364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DEBE4"/>
                </a:solidFill>
                <a:latin typeface="Segoe UI"/>
              </a:rPr>
              <a:t>it rebuilds the whole city's air every ~15 minutes</a:t>
            </a:r>
            <a:r>
              <a:rPr sz="1300" b="0">
                <a:solidFill>
                  <a:srgbClr val="9AA0AA"/>
                </a:solidFill>
                <a:latin typeface="Segoe UI"/>
              </a:rPr>
              <a:t>  —  unattended, even when nobody is watching.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9144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pic>
        <p:nvPicPr>
          <p:cNvPr id="14" name="Picture 13" descr="hex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06 / 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06 · USERS &amp;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the numbers</a:t>
            </a:r>
          </a:p>
          <a:p>
            <a:pPr algn="l">
              <a:lnSpc>
                <a:spcPct val="100000"/>
              </a:lnSpc>
            </a:pPr>
            <a:r>
              <a:rPr sz="3100" b="1">
                <a:solidFill>
                  <a:srgbClr val="EDEBE4"/>
                </a:solidFill>
                <a:latin typeface="Segoe UI"/>
              </a:rPr>
              <a:t>that matter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28600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the app isn't out yet — no invented user counts.</a:t>
            </a:r>
            <a:r>
              <a:rPr sz="1400" b="0">
                <a:solidFill>
                  <a:srgbClr val="9AA0AA"/>
                </a:solidFill>
                <a:latin typeface="Segoe UI"/>
              </a:rPr>
              <a:t>  here's what we measured instead.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3127248"/>
            <a:ext cx="2286000" cy="224028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29968" y="3291840"/>
            <a:ext cx="1883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BEST vs WORST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9968" y="3584448"/>
            <a:ext cx="18836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05F3A"/>
                </a:solidFill>
                <a:latin typeface="Segoe UI"/>
              </a:rPr>
              <a:t>+81%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8" y="4206240"/>
            <a:ext cx="1920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0AA"/>
                </a:solidFill>
                <a:latin typeface="Segoe UI"/>
              </a:rPr>
              <a:t>a real IIT→CP trip: the main-road option dosed 81% heavier than ALive's pick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127248"/>
            <a:ext cx="2286000" cy="224028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291840"/>
            <a:ext cx="1883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OPTIONS PER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3584448"/>
            <a:ext cx="18836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FB8D9"/>
                </a:solidFill>
                <a:latin typeface="Segoe UI"/>
              </a:rPr>
              <a:t>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4206240"/>
            <a:ext cx="1920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0AA"/>
                </a:solidFill>
                <a:latin typeface="Segoe UI"/>
              </a:rPr>
              <a:t>every plan prices up to two dozen real ways to go — you pick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9984" y="3127248"/>
            <a:ext cx="2286000" cy="224028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3291840"/>
            <a:ext cx="1883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RECEIPTS UPLOADED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3584448"/>
            <a:ext cx="18836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FBF9A"/>
                </a:solidFill>
                <a:latin typeface="Segoe U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1152" y="4206240"/>
            <a:ext cx="1920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0AA"/>
                </a:solidFill>
                <a:latin typeface="Segoe UI"/>
              </a:rPr>
              <a:t>trip receipts are stored on-device only — nothing is uploaded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0576" y="3127248"/>
            <a:ext cx="2286000" cy="224028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81744" y="3291840"/>
            <a:ext cx="1883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AVOIDED SO FAR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81744" y="3584448"/>
            <a:ext cx="18836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D9A86C"/>
                </a:solidFill>
                <a:latin typeface="Segoe UI"/>
              </a:rPr>
              <a:t>725.9 µg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81744" y="4206240"/>
            <a:ext cx="1920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0AA"/>
                </a:solidFill>
                <a:latin typeface="Segoe UI"/>
              </a:rPr>
              <a:t>14 contributors · 22 donated observations — small, real, counted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66928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DEBE4"/>
                </a:solidFill>
                <a:latin typeface="Segoe UI"/>
              </a:rPr>
              <a:t>what a day on ALive looks like</a:t>
            </a:r>
            <a:r>
              <a:rPr sz="1300" b="0">
                <a:solidFill>
                  <a:srgbClr val="9AA0AA"/>
                </a:solidFill>
                <a:latin typeface="Segoe UI"/>
              </a:rPr>
              <a:t>  —  a measured one, not an imagined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