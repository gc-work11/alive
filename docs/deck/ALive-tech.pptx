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01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01 ·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EDEBE4"/>
                </a:solidFill>
                <a:latin typeface="Segoe UI"/>
              </a:rPr>
              <a:t>A live exposure engine,</a:t>
            </a:r>
          </a:p>
          <a:p>
            <a:pPr algn="l">
              <a:lnSpc>
                <a:spcPct val="102000"/>
              </a:lnSpc>
            </a:pPr>
            <a:r>
              <a:rPr sz="3200" b="1">
                <a:solidFill>
                  <a:srgbClr val="EDEBE4"/>
                </a:solidFill>
                <a:latin typeface="Segoe UI"/>
              </a:rPr>
              <a:t>not a dashboard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86000"/>
            <a:ext cx="74980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0AA"/>
                </a:solidFill>
                <a:latin typeface="Segoe UI"/>
              </a:rPr>
              <a:t>One question in — </a:t>
            </a:r>
            <a:r>
              <a:rPr sz="1400" b="1">
                <a:solidFill>
                  <a:srgbClr val="EDEBE4"/>
                </a:solidFill>
                <a:latin typeface="Segoe UI"/>
              </a:rPr>
              <a:t>“what did this air do to me?”</a:t>
            </a:r>
            <a:r>
              <a:rPr sz="1400" b="0">
                <a:solidFill>
                  <a:srgbClr val="9AA0AA"/>
                </a:solidFill>
                <a:latin typeface="Segoe UI"/>
              </a:rPr>
              <a:t> — answered per-request from live feeds. No screenshots, no canned numbers.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200400"/>
            <a:ext cx="2468880" cy="14630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29968" y="336499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9968" y="3621024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Phone browser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3931920"/>
            <a:ext cx="21214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GPS, map, trip math — your track never leaves the device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7490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3200400"/>
            <a:ext cx="2468880" cy="14630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336499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048" y="3621024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Vercel → CloudFront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3931920"/>
            <a:ext cx="21214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static shell + API proxy to the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87768" y="374904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5C6470"/>
                </a:solidFill>
                <a:latin typeface="Segoe U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3200400"/>
            <a:ext cx="2468880" cy="146304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82128" y="3364992"/>
            <a:ext cx="2103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spc="200">
                <a:solidFill>
                  <a:srgbClr val="5C6470"/>
                </a:solidFill>
                <a:latin typeface="Segoe UI"/>
              </a:rPr>
              <a:t>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8" y="3621024"/>
            <a:ext cx="2103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FastAPI · AWS ECS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3931920"/>
            <a:ext cx="21214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C++ routing core, field builder, dose model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28800" y="5074920"/>
            <a:ext cx="2542032" cy="365760"/>
          </a:xfrm>
          <a:prstGeom prst="roundRect">
            <a:avLst>
              <a:gd name="adj" fmla="val 50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75104" y="5157216"/>
            <a:ext cx="2542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FBF9A"/>
                </a:solidFill>
                <a:latin typeface="Segoe UI"/>
              </a:rPr>
              <a:t>53</a:t>
            </a:r>
            <a:r>
              <a:rPr sz="1150" b="0">
                <a:solidFill>
                  <a:srgbClr val="9AA0AA"/>
                </a:solidFill>
                <a:latin typeface="Segoe UI"/>
              </a:rPr>
              <a:t> live stations · WAQI + DPCC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9704" y="5074920"/>
            <a:ext cx="2317089" cy="365760"/>
          </a:xfrm>
          <a:prstGeom prst="roundRect">
            <a:avLst>
              <a:gd name="adj" fmla="val 50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36008" y="5157216"/>
            <a:ext cx="231708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CAMS satellite · Open-Meteo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25665" y="5074920"/>
            <a:ext cx="1117396" cy="365760"/>
          </a:xfrm>
          <a:prstGeom prst="roundRect">
            <a:avLst>
              <a:gd name="adj" fmla="val 50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71969" y="5157216"/>
            <a:ext cx="11173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VIIRS fires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61933" y="5074920"/>
            <a:ext cx="1942185" cy="365760"/>
          </a:xfrm>
          <a:prstGeom prst="roundRect">
            <a:avLst>
              <a:gd name="adj" fmla="val 50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08237" y="5157216"/>
            <a:ext cx="194218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FBF9A"/>
                </a:solidFill>
                <a:latin typeface="Segoe UI"/>
              </a:rPr>
              <a:t>1.07M</a:t>
            </a:r>
            <a:r>
              <a:rPr sz="1150" b="0">
                <a:solidFill>
                  <a:srgbClr val="9AA0AA"/>
                </a:solidFill>
                <a:latin typeface="Segoe UI"/>
              </a:rPr>
              <a:t> road edges · OSM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222990" y="5074920"/>
            <a:ext cx="1342339" cy="365760"/>
          </a:xfrm>
          <a:prstGeom prst="roundRect">
            <a:avLst>
              <a:gd name="adj" fmla="val 50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69294" y="5157216"/>
            <a:ext cx="13423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AA0AA"/>
                </a:solidFill>
                <a:latin typeface="Segoe UI"/>
              </a:rPr>
              <a:t>TomTom traffic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8064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C6470"/>
                </a:solidFill>
                <a:latin typeface="Segoe UI"/>
              </a:rPr>
              <a:t>Real numbers, today: </a:t>
            </a:r>
            <a:r>
              <a:rPr sz="1200" b="0">
                <a:solidFill>
                  <a:srgbClr val="9AA0AA"/>
                </a:solidFill>
                <a:latin typeface="Segoe UI"/>
              </a:rPr>
              <a:t>24 routes scored in ~2.5 s incl. live traffic · field rebuilt every ~15 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02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02 · THE FIELD ALGORITHM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EDEBE4"/>
                </a:solidFill>
                <a:latin typeface="Segoe UI"/>
              </a:rPr>
              <a:t>53 stations →</a:t>
            </a:r>
          </a:p>
          <a:p>
            <a:pPr algn="l">
              <a:lnSpc>
                <a:spcPct val="102000"/>
              </a:lnSpc>
            </a:pPr>
            <a:r>
              <a:rPr sz="3200" b="1">
                <a:solidFill>
                  <a:srgbClr val="EDEBE4"/>
                </a:solidFill>
                <a:latin typeface="Segoe UI"/>
              </a:rPr>
              <a:t>14,155 living cells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86000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0AA"/>
                </a:solidFill>
                <a:latin typeface="Segoe UI"/>
              </a:rPr>
              <a:t>Stations and the CAMS satellite prior are </a:t>
            </a:r>
            <a:r>
              <a:rPr sz="1300" b="1">
                <a:solidFill>
                  <a:srgbClr val="EDEBE4"/>
                </a:solidFill>
                <a:latin typeface="Segoe UI"/>
              </a:rPr>
              <a:t>distance-blended onto an H3 hex grid</a:t>
            </a:r>
            <a:r>
              <a:rPr sz="1300" b="0">
                <a:solidFill>
                  <a:srgbClr val="9AA0AA"/>
                </a:solidFill>
                <a:latin typeface="Segoe UI"/>
              </a:rPr>
              <a:t> — the air is computed per cell, not per district.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108960"/>
            <a:ext cx="4480560" cy="160020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327355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00">
                <a:solidFill>
                  <a:srgbClr val="5C6470"/>
                </a:solidFill>
                <a:latin typeface="Segoe UI"/>
              </a:rPr>
              <a:t>THE TWO FORMULAS THAT RUN THE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566160"/>
            <a:ext cx="4023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7FBF9A"/>
                </a:solidFill>
                <a:latin typeface="Cascadia Code"/>
              </a:rPr>
              <a:t>pm(x) = Σ pmᵢ·dᵢ⁻² / Σ dᵢ⁻²  + CAMS prior</a:t>
            </a:r>
            <a:r>
              <a:rPr sz="1250" b="0">
                <a:solidFill>
                  <a:srgbClr val="8FB8D9"/>
                </a:solidFill>
                <a:latin typeface="Cascadia Code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8FB8D9"/>
                </a:solidFill>
                <a:latin typeface="Cascadia Code"/>
              </a:rPr>
              <a:t>AQI = (I_hi−I_lo)·(c−BP_lo)/(BP_hi−BP_lo) + I_lo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315968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9AA0AA"/>
                </a:solidFill>
                <a:latin typeface="Segoe UI"/>
              </a:rPr>
              <a:t>IDW blend per cell · then India's official CPCB breakpoints — the same table the monitors use.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4937760"/>
            <a:ext cx="4480560" cy="1325880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84832" y="51755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D9A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4832" y="539496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Every cell carries its confidence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2" y="5724144"/>
            <a:ext cx="4023360" cy="429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Near a monitor → “monitor-grade”. Model-only → the app says “satellite estimate”. Stale is called stale, never hidden.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3063240"/>
            <a:ext cx="5394960" cy="3310128"/>
          </a:xfrm>
          <a:prstGeom prst="roundRect">
            <a:avLst>
              <a:gd name="adj" fmla="val 5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eckimg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843" y="3200400"/>
            <a:ext cx="3459753" cy="26974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0" y="60533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the live field, today — PM2.5 per cell · real range </a:t>
            </a:r>
            <a:r>
              <a:rPr sz="1050" b="1">
                <a:solidFill>
                  <a:srgbClr val="9AA0AA"/>
                </a:solidFill>
                <a:latin typeface="Segoe UI"/>
              </a:rPr>
              <a:t>43–127 µg/m³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03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03 · DOSE MATH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EDEBE4"/>
                </a:solidFill>
                <a:latin typeface="Segoe UI"/>
              </a:rPr>
              <a:t>Priced in breath,</a:t>
            </a:r>
          </a:p>
          <a:p>
            <a:pPr algn="l">
              <a:lnSpc>
                <a:spcPct val="102000"/>
              </a:lnSpc>
            </a:pPr>
            <a:r>
              <a:rPr sz="3200" b="1">
                <a:solidFill>
                  <a:srgbClr val="EDEBE4"/>
                </a:solidFill>
                <a:latin typeface="Segoe UI"/>
              </a:rPr>
              <a:t>not just minutes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86000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9AA0AA"/>
                </a:solidFill>
                <a:latin typeface="Segoe UI"/>
              </a:rPr>
              <a:t>Each road segment takes the field's PM2.5 at its path. The route's dose integrates it — </a:t>
            </a:r>
            <a:r>
              <a:rPr sz="1300" b="1">
                <a:solidFill>
                  <a:srgbClr val="EDEBE4"/>
                </a:solidFill>
                <a:latin typeface="Cascadia Code"/>
              </a:rPr>
              <a:t>dose = Σ cᵢ · VE · tᵢ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3108960"/>
            <a:ext cx="4480560" cy="1737360"/>
          </a:xfrm>
          <a:prstGeom prst="roundRect">
            <a:avLst>
              <a:gd name="adj" fmla="val 8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3255264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spc="200">
                <a:solidFill>
                  <a:srgbClr val="5C6470"/>
                </a:solidFill>
                <a:latin typeface="Segoe UI"/>
              </a:rPr>
              <a:t>VENTILATION · VE (L AIR / MIN)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529584"/>
            <a:ext cx="4114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7FBF9A"/>
                </a:solidFill>
                <a:latin typeface="Cascadia Code"/>
              </a:rPr>
              <a:t>sitting ~8   ·   walking ~14   ·   cycling ~26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7FBF9A"/>
                </a:solidFill>
                <a:latin typeface="Cascadia Code"/>
              </a:rPr>
              <a:t>running ~45   ·   car cabin ≈ ÷2.5 filtered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517136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A0AA"/>
                </a:solidFill>
                <a:latin typeface="Segoe UI"/>
              </a:rPr>
              <a:t>A runner breathes ~3× a walker — the mode changes the dose, not just the 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28800" y="5074920"/>
            <a:ext cx="4480560" cy="1234440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084832" y="531266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84832" y="553212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The engine behind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2" y="5861304"/>
            <a:ext cx="402336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C++ core over 1,070,459 OSM edges — candidate paths generated, each re-scored on the field, strictly-worse ones collapsed.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0" y="1188720"/>
            <a:ext cx="5394960" cy="5138928"/>
          </a:xfrm>
          <a:prstGeom prst="roundRect">
            <a:avLst>
              <a:gd name="adj" fmla="val 4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eckimg_rou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5950" y="1353312"/>
            <a:ext cx="2027539" cy="28803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75120" y="422452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one real OD pair — green is the pick, </a:t>
            </a:r>
            <a:r>
              <a:rPr sz="1050" b="1">
                <a:solidFill>
                  <a:srgbClr val="C05F3A"/>
                </a:solidFill>
                <a:latin typeface="Segoe UI"/>
              </a:rPr>
              <a:t>+81% dose on the main road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4526280"/>
            <a:ext cx="5029200" cy="1524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deckimg_do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304" y="4681728"/>
            <a:ext cx="4454831" cy="1417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675120" y="60899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C6470"/>
                </a:solidFill>
                <a:latin typeface="Segoe UI"/>
              </a:rPr>
              <a:t>the air along the chosen path — peak 86 µg/m³ at km 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17320" cy="6858000"/>
          </a:xfrm>
          <a:prstGeom prst="rect">
            <a:avLst/>
          </a:prstGeom>
          <a:solidFill>
            <a:srgbClr val="151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17320" y="0"/>
            <a:ext cx="12700" cy="6858000"/>
          </a:xfrm>
          <a:prstGeom prst="rect">
            <a:avLst/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" y="45720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spc="200">
                <a:solidFill>
                  <a:srgbClr val="EDEBE4"/>
                </a:solidFill>
                <a:latin typeface="Segoe UI"/>
              </a:rPr>
              <a:t>ALive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" y="5806440"/>
            <a:ext cx="1143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App coming</a:t>
            </a:r>
          </a:p>
          <a:p>
            <a:pPr algn="l">
              <a:lnSpc>
                <a:spcPct val="100000"/>
              </a:lnSpc>
            </a:pPr>
            <a:r>
              <a:rPr sz="1050" b="1">
                <a:solidFill>
                  <a:srgbClr val="9AA0AA"/>
                </a:solidFill>
                <a:latin typeface="Segoe UI"/>
              </a:rPr>
              <a:t>soon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" y="6382512"/>
            <a:ext cx="1188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Open Source</a:t>
            </a:r>
          </a:p>
          <a:p>
            <a:pPr algn="l">
              <a:lnSpc>
                <a:spcPct val="100000"/>
              </a:lnSpc>
            </a:pPr>
            <a:r>
              <a:rPr sz="850" b="0">
                <a:solidFill>
                  <a:srgbClr val="5C6470"/>
                </a:solidFill>
                <a:latin typeface="Segoe UI"/>
              </a:rPr>
              <a:t>Initiative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7472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93776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262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896112"/>
            <a:ext cx="82296" cy="82296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eckim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37160"/>
            <a:ext cx="2468880" cy="2194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710928" y="56692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spc="200">
                <a:solidFill>
                  <a:srgbClr val="5C6470"/>
                </a:solidFill>
                <a:latin typeface="Segoe UI"/>
              </a:rPr>
              <a:t>04 /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66928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300">
                <a:solidFill>
                  <a:srgbClr val="8FB8D9"/>
                </a:solidFill>
                <a:latin typeface="Segoe UI"/>
              </a:rPr>
              <a:t>04 · THE FIGHT — BROWSER 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91440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200" b="1">
                <a:solidFill>
                  <a:srgbClr val="EDEBE4"/>
                </a:solidFill>
                <a:latin typeface="Segoe UI"/>
              </a:rPr>
              <a:t>Fitting a city in</a:t>
            </a:r>
          </a:p>
          <a:p>
            <a:pPr algn="l">
              <a:lnSpc>
                <a:spcPct val="102000"/>
              </a:lnSpc>
            </a:pPr>
            <a:r>
              <a:rPr sz="3200" b="1">
                <a:solidFill>
                  <a:srgbClr val="EDEBE4"/>
                </a:solidFill>
                <a:latin typeface="Segoe UI"/>
              </a:rPr>
              <a:t>a browser tab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2377440"/>
            <a:ext cx="4892040" cy="1481328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84832" y="26151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D9A8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84832" y="283464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No WebGL? No pretending.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4832" y="3163824"/>
            <a:ext cx="443484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Phones that can't do 3D get an honest raster map — flat, labelled, still real. We never fake tilt.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95160" y="2377440"/>
            <a:ext cx="4892040" cy="1481328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51192" y="261518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7FB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51192" y="2834640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GPS lies politely.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51192" y="3163824"/>
            <a:ext cx="443484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±50 m wobble near the finish could fake “done” — arrival must hold 4 s. Closed-tab restores re-probe, not stale fixes.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4133088"/>
            <a:ext cx="4892040" cy="1481328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84832" y="43708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8FB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84832" y="4590288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14k cells ≠ 14k nodes.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84832" y="4919472"/>
            <a:ext cx="443484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The field paints as one tinted layer over the vector basemap; route lines re-assert after every style reload.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95160" y="4133088"/>
            <a:ext cx="4892040" cy="1481328"/>
          </a:xfrm>
          <a:prstGeom prst="roundRect">
            <a:avLst>
              <a:gd name="adj" fmla="val 7000"/>
            </a:avLst>
          </a:prstGeom>
          <a:solidFill>
            <a:srgbClr val="15181E"/>
          </a:solidFill>
          <a:ln w="9525">
            <a:solidFill>
              <a:srgbClr val="262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51192" y="43708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C05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51192" y="4590288"/>
            <a:ext cx="4434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EDEBE4"/>
                </a:solidFill>
                <a:latin typeface="Segoe UI"/>
              </a:rPr>
              <a:t>Your track stays yours.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1192" y="4919472"/>
            <a:ext cx="443484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AA0AA"/>
                </a:solidFill>
                <a:latin typeface="Segoe UI"/>
              </a:rPr>
              <a:t>Dose needs the path; tracking people is creepy. The GPS trail never leaves the phone — only anonymous counters leave.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9436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AA0AA"/>
                </a:solidFill>
                <a:latin typeface="Segoe UI"/>
              </a:rPr>
              <a:t>Open data, open stack — OSM · OpenFreeMap · Open-Meteo/CAMS · CPCB/WAQI/DPCC · TomTom — </a:t>
            </a:r>
            <a:r>
              <a:rPr sz="1200" b="1">
                <a:solidFill>
                  <a:srgbClr val="8FB8D9"/>
                </a:solidFill>
                <a:latin typeface="Segoe UI"/>
              </a:rPr>
              <a:t>delhi-is-alive.vercel.app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C6470"/>
                </a:solidFill>
                <a:latin typeface="Segoe UI"/>
              </a:rPr>
              <a:t>ALive · technical deck · Delhi/NCR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